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54864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Diet &amp; the vaginal microbiome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D8E8DF"/>
                </a:solidFill>
                <a:latin typeface="Calibri"/>
              </a:rPr>
              <a:t>Validating a reusable diet → community-state-type analysis toolkit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D8E8DF"/>
                </a:solidFill>
                <a:latin typeface="Calibri"/>
              </a:rPr>
              <a:t>on two independent public cohorts, reprocessed from raw 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177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BFD6C8"/>
                </a:solidFill>
                <a:latin typeface="Calibri"/>
              </a:rPr>
              <a:t>Jean Yu   ·   October 2026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FD3B8"/>
                </a:solidFill>
                <a:latin typeface="Calibri"/>
              </a:rPr>
              <a:t>github.com/jyu9675/vmbdiet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9FD3B8"/>
                </a:solidFill>
                <a:latin typeface="Calibri"/>
              </a:rPr>
              <a:t>motivation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Diet is reported to shape the vaginal microbiome — but every study uses its own ad-hoc pipeline, so the signal is hard to compare or build 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I packaged the shared analysis (CST classification + covariate-adjusted diet association) into one tested tool, </a:t>
            </a:r>
            <a:r>
              <a:rPr sz="1800" b="1" i="0">
                <a:solidFill>
                  <a:srgbClr val="0F6B5F"/>
                </a:solidFill>
                <a:latin typeface="Calibri"/>
              </a:rPr>
              <a:t>vmbdiet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, then asked: does it recover a published result when run, from raw data, on a cohort it was not tuned 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00400"/>
            <a:ext cx="11064240" cy="4572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Neggers 2007 — dietary fat ↑ BV; folate / vit-A / calcium ↓ BV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67328"/>
            <a:ext cx="11064240" cy="4572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67328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Tuddenham 2019 — dairy / fiber / vit-D → L. crispatus over L. iners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34256"/>
            <a:ext cx="11064240" cy="4572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34256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Hawaii 2024 — carbohydrate / HEI-2015 → L. crispatus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01183"/>
            <a:ext cx="11064240" cy="4572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901183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Italy 2025 — animal protein → CST-IV; alcohol → Gardnerella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5955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5A5A"/>
                </a:solidFill>
                <a:latin typeface="Calibri"/>
              </a:rPr>
              <a:t>Four studies, one shared analysis — standardized and validated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9FD3B8"/>
                </a:solidFill>
                <a:latin typeface="Calibri"/>
              </a:rPr>
              <a:t>two public cohorts · from raw reads · one pipeline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481328" cy="914400"/>
          </a:xfrm>
          <a:prstGeom prst="roundRect">
            <a:avLst/>
          </a:prstGeom>
          <a:solidFill>
            <a:srgbClr val="F6F4E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63040"/>
            <a:ext cx="13350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raw FASTQ (SRA)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4248" y="1463040"/>
            <a:ext cx="15544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6B5F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9696" y="1463040"/>
            <a:ext cx="1481328" cy="9144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12848" y="1463040"/>
            <a:ext cx="13350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cutadapt
primers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1024" y="1463040"/>
            <a:ext cx="15544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6B5F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6472" y="1463040"/>
            <a:ext cx="1481328" cy="9144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9624" y="1463040"/>
            <a:ext cx="13350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vsearch
merge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463040"/>
            <a:ext cx="15544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6B5F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13248" y="1463040"/>
            <a:ext cx="1481328" cy="9144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463040"/>
            <a:ext cx="13350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EE&lt;1.0
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1463040"/>
            <a:ext cx="15544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6B5F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50024" y="1463040"/>
            <a:ext cx="1481328" cy="9144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1463040"/>
            <a:ext cx="13350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UNOISE3
ASVs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1463040"/>
            <a:ext cx="15544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6B5F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463040"/>
            <a:ext cx="1481328" cy="9144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9952" y="1463040"/>
            <a:ext cx="13350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RDP + RefSeq
taxonomy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1463040"/>
            <a:ext cx="15544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6B5F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23576" y="1463040"/>
            <a:ext cx="1481328" cy="9144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96728" y="1463040"/>
            <a:ext cx="13350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vmbdiet
CST + assoc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Nothing reuses the authors' processed tables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— the ASV table is rebuilt from raw reads; CSTs by dominant-taxon rule (VALENCIA centroids shipped); associations by per-SD adjusted logistic + BH-FDR, Spearman, and PERMANOVA. Runs on a laptop.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14800"/>
            <a:ext cx="3566160" cy="13716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73152" cy="1371600"/>
          </a:xfrm>
          <a:prstGeom prst="rect">
            <a:avLst/>
          </a:prstGeom>
          <a:solidFill>
            <a:srgbClr val="0F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242816"/>
            <a:ext cx="3154680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5A5A5A"/>
                </a:solidFill>
                <a:latin typeface="Calibri"/>
              </a:rPr>
              <a:t>Cohort 1 · Italian “StressDiet”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N=113 · non-pregnant · FFQ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114800"/>
            <a:ext cx="3566160" cy="13716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4114800"/>
            <a:ext cx="73152" cy="1371600"/>
          </a:xfrm>
          <a:prstGeom prst="rect">
            <a:avLst/>
          </a:prstGeom>
          <a:solidFill>
            <a:srgbClr val="0F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242816"/>
            <a:ext cx="3154680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5A5A5A"/>
                </a:solidFill>
                <a:latin typeface="Calibri"/>
              </a:rPr>
              <a:t>Cohort 2 · MELODY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N=47 · pregnancy±IBD · HEI-2015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114800"/>
            <a:ext cx="3566160" cy="13716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114800"/>
            <a:ext cx="73152" cy="1371600"/>
          </a:xfrm>
          <a:prstGeom prst="rect">
            <a:avLst/>
          </a:prstGeom>
          <a:solidFill>
            <a:srgbClr val="B2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4242816"/>
            <a:ext cx="3154680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5A5A5A"/>
                </a:solidFill>
                <a:latin typeface="Calibri"/>
              </a:rPr>
              <a:t>Dropped · MicrobeMom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gut/stool, ~1.5 TB — no vaginal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5A5A"/>
                </a:solidFill>
                <a:latin typeface="Calibri"/>
              </a:rPr>
              <a:t>MicrobeMom (PRJEB48251) was verified at the ENA record to be a maternal-gut cohort with no vaginal samples — correctly excluded, not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9FD3B8"/>
                </a:solidFill>
                <a:latin typeface="Calibri"/>
              </a:rPr>
              <a:t>Italian StressDiet · N=113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Cohort 1 — the communities look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Before any diet test means anything, reconstructed communities must resemble a real cohort. They do (species-level resolution worked).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4797767" cy="73152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79776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49</a:t>
            </a:r>
          </a:p>
        </p:txBody>
      </p:sp>
      <p:sp>
        <p:nvSpPr>
          <p:cNvPr id="7" name="Rectangle 6"/>
          <p:cNvSpPr/>
          <p:nvPr/>
        </p:nvSpPr>
        <p:spPr>
          <a:xfrm>
            <a:off x="5346407" y="2103120"/>
            <a:ext cx="2154099" cy="731520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6407" y="2103120"/>
            <a:ext cx="215409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500506" y="2103120"/>
            <a:ext cx="3426976" cy="731520"/>
          </a:xfrm>
          <a:prstGeom prst="rect">
            <a:avLst/>
          </a:prstGeom>
          <a:solidFill>
            <a:srgbClr val="B2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00506" y="2103120"/>
            <a:ext cx="342697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27482" y="2103120"/>
            <a:ext cx="391654" cy="731520"/>
          </a:xfrm>
          <a:prstGeom prst="rect">
            <a:avLst/>
          </a:prstGeom>
          <a:solidFill>
            <a:srgbClr val="5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19136" y="2103120"/>
            <a:ext cx="293740" cy="731520"/>
          </a:xfrm>
          <a:prstGeom prst="rect">
            <a:avLst/>
          </a:prstGeom>
          <a:solidFill>
            <a:srgbClr val="7A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99816"/>
            <a:ext cx="201168" cy="201168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CST I  (L. crispatus)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3099816"/>
            <a:ext cx="201168" cy="201168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306324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CST III  (L. iners)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3099816"/>
            <a:ext cx="201168" cy="201168"/>
          </a:xfrm>
          <a:prstGeom prst="rect">
            <a:avLst/>
          </a:prstGeom>
          <a:solidFill>
            <a:srgbClr val="B2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306324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CST IV  (diverse/BV)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3099816"/>
            <a:ext cx="201168" cy="201168"/>
          </a:xfrm>
          <a:prstGeom prst="rect">
            <a:avLst/>
          </a:prstGeom>
          <a:solidFill>
            <a:srgbClr val="5A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06324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CST 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3099816"/>
            <a:ext cx="201168" cy="201168"/>
          </a:xfrm>
          <a:prstGeom prst="rect">
            <a:avLst/>
          </a:prstGeom>
          <a:solidFill>
            <a:srgbClr val="7A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306324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CST 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Top taxa by mean relative abundance: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43400"/>
            <a:ext cx="1764792" cy="9144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43484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L. crispatus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6B5F"/>
                </a:solidFill>
                <a:latin typeface="Calibri"/>
              </a:rPr>
              <a:t>41%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95728" y="4343400"/>
            <a:ext cx="1764792" cy="9144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05456" y="443484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L. iners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6B5F"/>
                </a:solidFill>
                <a:latin typeface="Calibri"/>
              </a:rPr>
              <a:t>22%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42816" y="4343400"/>
            <a:ext cx="1764792" cy="9144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443484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G. vaginalis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6B5F"/>
                </a:solidFill>
                <a:latin typeface="Calibri"/>
              </a:rPr>
              <a:t>6.3% (81% prev.)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9904" y="4343400"/>
            <a:ext cx="1764792" cy="9144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443484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Prevotella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6B5F"/>
                </a:solidFill>
                <a:latin typeface="Calibri"/>
              </a:rPr>
              <a:t>4.8%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36992" y="4343400"/>
            <a:ext cx="1764792" cy="9144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443484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L. gasseri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6B5F"/>
                </a:solidFill>
                <a:latin typeface="Calibri"/>
              </a:rPr>
              <a:t>3.9%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4343400"/>
            <a:ext cx="1764792" cy="9144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93808" y="4434840"/>
            <a:ext cx="1554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L. jensenii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6B5F"/>
                </a:solidFill>
                <a:latin typeface="Calibri"/>
              </a:rPr>
              <a:t>3.7%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5A5A"/>
                </a:solidFill>
                <a:latin typeface="Calibri"/>
              </a:rPr>
              <a:t>5.1M merged reads → 1,312 ASVs → 163 taxa; all 113 samples retained.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9FD3B8"/>
                </a:solidFill>
                <a:latin typeface="Calibri"/>
              </a:rPr>
              <a:t>Italian StressDiet · independent reprocessing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Cohort 1 — both published signals replicate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40680" cy="128016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128016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08176"/>
            <a:ext cx="5029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5A5A5A"/>
                </a:solidFill>
                <a:latin typeface="Calibri"/>
              </a:rPr>
              <a:t>Animal-protein fraction → CST-IV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OR 1.66 / SD  (1.09–2.53)  p = 0.019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440680" cy="128016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73152" cy="128016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408176"/>
            <a:ext cx="5029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5A5A5A"/>
                </a:solidFill>
                <a:latin typeface="Calibri"/>
              </a:rPr>
              <a:t>Alcohol → Gardnerella / anaerobes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ρ +0.30, p=0.001  ·  Leptotrichia q=0.012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64240" cy="1828800"/>
          </a:xfrm>
          <a:prstGeom prst="roundRect">
            <a:avLst/>
          </a:prstGeom>
          <a:solidFill>
            <a:srgbClr val="F6F4EF"/>
          </a:solidFill>
          <a:ln w="9525">
            <a:solidFill>
              <a:srgbClr val="C08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C08A2D"/>
                </a:solidFill>
                <a:latin typeface="Calibri"/>
              </a:rPr>
              <a:t>The decisive methodological step: energy adjustment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On raw intake, fiber and vegetable protein looked protective — but that was a confound of lower total energy in CST-IV women (1,754 vs 1,995 kcal, p=0.016). Expressing nutrients as density per 1,000 kcal removed the artifact and left the animal-protein effect standing.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A1A1A"/>
                </a:solidFill>
                <a:latin typeface="Calibri"/>
              </a:rPr>
              <a:t>The tool handled a standard nutritional-epidemiology pitfall correctly — and the association that survives is the one the original authors reported.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Calibri"/>
              </a:rPr>
              <a:t>PERMANOVA (community ~ CST-IV) pseudo-F ≈ 22, p = 0.001 — a structural sanity check (partly definitional), not a diet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9FD3B8"/>
                </a:solidFill>
                <a:latin typeface="Calibri"/>
              </a:rPr>
              <a:t>MELODY · pregnancy±IBD · N=47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Cohort 2 — an honest null (and why that's reassuring)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4572000" cy="566928"/>
          </a:xfrm>
          <a:prstGeom prst="rect">
            <a:avLst/>
          </a:prstGeom>
          <a:solidFill>
            <a:srgbClr val="0F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4389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Comparable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280160"/>
            <a:ext cx="3246120" cy="566928"/>
          </a:xfrm>
          <a:prstGeom prst="rect">
            <a:avLst/>
          </a:prstGeom>
          <a:solidFill>
            <a:srgbClr val="0F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30368" y="1280160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Italian (N=113)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280160"/>
            <a:ext cx="3246120" cy="566928"/>
          </a:xfrm>
          <a:prstGeom prst="rect">
            <a:avLst/>
          </a:prstGeom>
          <a:solidFill>
            <a:srgbClr val="0F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280160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MELODY (N=47)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47088"/>
            <a:ext cx="4572000" cy="566928"/>
          </a:xfrm>
          <a:prstGeom prst="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47088"/>
            <a:ext cx="4389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Animal protein → CST-IV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847088"/>
            <a:ext cx="3246120" cy="566928"/>
          </a:xfrm>
          <a:prstGeom prst="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1847088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7837"/>
                </a:solidFill>
                <a:latin typeface="Calibri"/>
              </a:rPr>
              <a:t>OR 1.66, p=0.019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1847088"/>
            <a:ext cx="3246120" cy="566928"/>
          </a:xfrm>
          <a:prstGeom prst="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847088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OR 1.30, p=0.44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14016"/>
            <a:ext cx="4572000" cy="566928"/>
          </a:xfrm>
          <a:prstGeom prst="rect">
            <a:avLst/>
          </a:prstGeom>
          <a:solidFill>
            <a:srgbClr val="F6F4E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414016"/>
            <a:ext cx="4389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HEI-2015 → CST-IV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414016"/>
            <a:ext cx="3246120" cy="566928"/>
          </a:xfrm>
          <a:prstGeom prst="rect">
            <a:avLst/>
          </a:prstGeom>
          <a:solidFill>
            <a:srgbClr val="F6F4E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2414016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414016"/>
            <a:ext cx="3246120" cy="566928"/>
          </a:xfrm>
          <a:prstGeom prst="rect">
            <a:avLst/>
          </a:prstGeom>
          <a:solidFill>
            <a:srgbClr val="F6F4E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2414016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OR 1.40, p=0.33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80944"/>
            <a:ext cx="4572000" cy="566928"/>
          </a:xfrm>
          <a:prstGeom prst="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980944"/>
            <a:ext cx="4389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Alcohol → Gardnerella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2980944"/>
            <a:ext cx="3246120" cy="566928"/>
          </a:xfrm>
          <a:prstGeom prst="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0368" y="2980944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B7837"/>
                </a:solidFill>
                <a:latin typeface="Calibri"/>
              </a:rPr>
              <a:t>ρ +0.30, p=0.001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2980944"/>
            <a:ext cx="3246120" cy="566928"/>
          </a:xfrm>
          <a:prstGeom prst="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2980944"/>
            <a:ext cx="3063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≈0 intake (untestable)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566160"/>
            <a:ext cx="11064240" cy="2194560"/>
          </a:xfrm>
          <a:prstGeom prst="roundRect">
            <a:avLst/>
          </a:prstGeom>
          <a:solidFill>
            <a:srgbClr val="F6F4EF"/>
          </a:solidFill>
          <a:ln w="9525">
            <a:solidFill>
              <a:srgbClr val="0F6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749039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F6B5F"/>
                </a:solidFill>
                <a:latin typeface="Calibri"/>
              </a:rPr>
              <a:t>A null is the right answer here — and a good sign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Underpowered: 47 women, 12 CST-IV events — a per-SD OR ≈ 1.3 is undetectable.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Pregnancy flattens the exposure: alcohol ≈ 0, and the community skews to Lactobacillus regardless of diet.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The source study itself found no diet–microbiota difference — we reproduce that.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A1A1A"/>
                </a:solidFill>
                <a:latin typeface="Calibri"/>
              </a:rPr>
              <a:t>The one comparable signal (animal protein) still points the same way. A tool manufacturing significance here would be the worry — not this.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9FD3B8"/>
                </a:solidFill>
                <a:latin typeface="Calibri"/>
              </a:rPr>
              <a:t>what this is — and isn't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Interpretation &amp;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137160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1B7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A positive replication in the powered cohort and an honest null in the underpowered one is exactly the behavior a trustworthy tool should show.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Calibri"/>
              </a:rPr>
              <a:t>The animal-protein → CST-IV direction is consistent across both cohorts.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B23A5B"/>
                </a:solidFill>
                <a:latin typeface="Calibri"/>
              </a:rPr>
              <a:t>Limits — stated plainly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Both cohorts are modest and cross-sectional — no causal direction.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The animal-protein association is nominally significant but does not clear FDR across all nutrients (q=0.14).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Species resolution is limited to the dominant vaginal taxa; rare taxa are genus-level.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 PERMANOVA on CST-IV is a structural check, not a diet finding (CST-IV is itself a community label).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64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9FD3B8"/>
                </a:solidFill>
                <a:latin typeface="Calibri"/>
              </a:rPr>
              <a:t>next steps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What this enables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64240" cy="132588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73152" cy="1325880"/>
          </a:xfrm>
          <a:prstGeom prst="rect">
            <a:avLst/>
          </a:prstGeom>
          <a:solidFill>
            <a:srgbClr val="0F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72184"/>
            <a:ext cx="10515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F6B5F"/>
                </a:solidFill>
                <a:latin typeface="Calibri"/>
              </a:rPr>
              <a:t>Validated, reusable pipeline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Calibri"/>
              </a:rPr>
              <a:t>The same code profiles any cohort pairing a 16S table with diet — a prospective or larger diet→CST study, or a multi-cohort meta-analysis, is now low-risk with the analysis in hand.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07208"/>
            <a:ext cx="11064240" cy="132588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807208"/>
            <a:ext cx="73152" cy="1325880"/>
          </a:xfrm>
          <a:prstGeom prst="rect">
            <a:avLst/>
          </a:prstGeom>
          <a:solidFill>
            <a:srgbClr val="0F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53512"/>
            <a:ext cx="10515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F6B5F"/>
                </a:solidFill>
                <a:latin typeface="Calibri"/>
              </a:rPr>
              <a:t>A third HEI-2015 cohort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Calibri"/>
              </a:rPr>
              <a:t>The Hawaii multi-ethnic cohort (PMC11479099) has not yet deposited an accession — the ideal third replication once public. (Flagged to revisit.)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88536"/>
            <a:ext cx="11064240" cy="1325880"/>
          </a:xfrm>
          <a:prstGeom prst="roundRect">
            <a:avLst/>
          </a:prstGeom>
          <a:solidFill>
            <a:srgbClr val="FBFAF5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88536"/>
            <a:ext cx="73152" cy="1325880"/>
          </a:xfrm>
          <a:prstGeom prst="rect">
            <a:avLst/>
          </a:prstGeom>
          <a:solidFill>
            <a:srgbClr val="0F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10515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0F6B5F"/>
                </a:solidFill>
                <a:latin typeface="Calibri"/>
              </a:rPr>
              <a:t>Complements the strain program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Calibri"/>
              </a:rPr>
              <a:t>Diet is a plausible modifier of which Lactobacillus strains establish and persist — links to the lab's strain-transmission / engraftment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F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FD3B8"/>
                </a:solidFill>
                <a:latin typeface="Calibri"/>
              </a:rPr>
              <a:t>Reproducible scripts, derived tables &amp; write-up: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github.com/jyu9675/vmbdiet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